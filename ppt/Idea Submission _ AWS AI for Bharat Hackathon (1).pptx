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Manrope SemiBold"/>
      <p:regular r:id="rId20"/>
      <p:bold r:id="rId21"/>
    </p:embeddedFont>
    <p:embeddedFont>
      <p:font typeface="Manrope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4" roundtripDataSignature="AMtx7miTlDPdGsc7LIVo7/yM4kfHKbz4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nropeSemiBold-regular.fntdata"/><Relationship Id="rId11" Type="http://schemas.openxmlformats.org/officeDocument/2006/relationships/slide" Target="slides/slide6.xml"/><Relationship Id="rId22" Type="http://schemas.openxmlformats.org/officeDocument/2006/relationships/font" Target="fonts/Manrope-regular.fntdata"/><Relationship Id="rId10" Type="http://schemas.openxmlformats.org/officeDocument/2006/relationships/slide" Target="slides/slide5.xml"/><Relationship Id="rId21" Type="http://schemas.openxmlformats.org/officeDocument/2006/relationships/font" Target="fonts/ManropeSemiBold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Manrope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d5d6b0780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bd5d6b0780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d5d6b0780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bd5d6b0780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d6011645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bd6011645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 title="Artscfghgboard – 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"/>
          <p:cNvSpPr txBox="1"/>
          <p:nvPr/>
        </p:nvSpPr>
        <p:spPr>
          <a:xfrm>
            <a:off x="383675" y="343612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500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</a:t>
            </a:r>
            <a:r>
              <a:rPr b="0" i="0" lang="en-GB" sz="1500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SIGMOIDS</a:t>
            </a:r>
            <a:endParaRPr b="0" i="0" sz="1500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383675" y="4178552"/>
            <a:ext cx="85206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-GB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</a:t>
            </a:r>
            <a:r>
              <a:rPr b="0" i="0" lang="en-GB" sz="1500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:</a:t>
            </a:r>
            <a:r>
              <a:rPr b="1" lang="en-GB" sz="1500">
                <a:solidFill>
                  <a:srgbClr val="141727"/>
                </a:solidFill>
                <a:highlight>
                  <a:srgbClr val="F8FA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AI for Communities, Access &amp; Public Impact</a:t>
            </a:r>
            <a:endParaRPr b="1" sz="1500">
              <a:solidFill>
                <a:srgbClr val="141727"/>
              </a:solidFill>
              <a:highlight>
                <a:srgbClr val="F8FAF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>
                <a:solidFill>
                  <a:srgbClr val="141727"/>
                </a:solidFill>
                <a:highlight>
                  <a:srgbClr val="F8FA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–Build an AI-powered solution that improves access to information, resources, </a:t>
            </a:r>
            <a:endParaRPr>
              <a:solidFill>
                <a:srgbClr val="141727"/>
              </a:solidFill>
              <a:highlight>
                <a:srgbClr val="F8FAF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>
                <a:solidFill>
                  <a:srgbClr val="141727"/>
                </a:solidFill>
                <a:highlight>
                  <a:srgbClr val="F8FA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or opportunities for communities and public systems</a:t>
            </a:r>
            <a:endParaRPr>
              <a:solidFill>
                <a:srgbClr val="141727"/>
              </a:solidFill>
              <a:highlight>
                <a:srgbClr val="F8FAF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383663" y="38109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</a:t>
            </a:r>
            <a:r>
              <a:rPr b="0" i="0" lang="en-GB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SWAMY SETHU SHRUTHI</a:t>
            </a:r>
            <a:endParaRPr b="0" i="0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2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2"/>
          <p:cNvSpPr txBox="1"/>
          <p:nvPr/>
        </p:nvSpPr>
        <p:spPr>
          <a:xfrm>
            <a:off x="311700" y="863550"/>
            <a:ext cx="5888700" cy="41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Brief about the Idea: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         </a:t>
            </a:r>
            <a:r>
              <a:rPr b="1" lang="en-GB" sz="1700">
                <a:solidFill>
                  <a:srgbClr val="FF9900"/>
                </a:solidFill>
                <a:latin typeface="Manrope"/>
                <a:ea typeface="Manrope"/>
                <a:cs typeface="Manrope"/>
                <a:sym typeface="Manrope"/>
              </a:rPr>
              <a:t>Car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dSa</a:t>
            </a:r>
            <a:r>
              <a:rPr b="1" lang="en-GB" sz="1700">
                <a:solidFill>
                  <a:srgbClr val="6AA84F"/>
                </a:solidFill>
                <a:latin typeface="Manrope"/>
                <a:ea typeface="Manrope"/>
                <a:cs typeface="Manrope"/>
                <a:sym typeface="Manrope"/>
              </a:rPr>
              <a:t>athi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— Bharat’s AI for Every Smart Swipe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                                         “Right card. Right benefit. Right time.”</a:t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Problem Statement: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Most Indians miss out on </a:t>
            </a:r>
            <a:r>
              <a:rPr b="1" lang="en-GB" sz="1100">
                <a:solidFill>
                  <a:schemeClr val="dk1"/>
                </a:solidFill>
              </a:rPr>
              <a:t>cashback, rewards, and offers</a:t>
            </a:r>
            <a:r>
              <a:rPr lang="en-GB" sz="1100">
                <a:solidFill>
                  <a:schemeClr val="dk1"/>
                </a:solidFill>
              </a:rPr>
              <a:t> every single day.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Not because they don’t have good cards,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but because they don’t know </a:t>
            </a:r>
            <a:r>
              <a:rPr b="1" lang="en-GB" sz="1100">
                <a:solidFill>
                  <a:schemeClr val="dk1"/>
                </a:solidFill>
              </a:rPr>
              <a:t>which card to use, when.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CardSaathi fixes that!!!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What It Does : 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CardSaathi recommends the </a:t>
            </a:r>
            <a:r>
              <a:rPr b="1" lang="en-GB" sz="1100">
                <a:solidFill>
                  <a:schemeClr val="dk1"/>
                </a:solidFill>
              </a:rPr>
              <a:t>best card and live benefit in real time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so </a:t>
            </a:r>
            <a:r>
              <a:rPr b="1" lang="en-GB" sz="1100">
                <a:solidFill>
                  <a:schemeClr val="dk1"/>
                </a:solidFill>
              </a:rPr>
              <a:t>every swipe gives you maximum value.</a:t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i="1" lang="en-GB" sz="1100">
                <a:solidFill>
                  <a:schemeClr val="dk1"/>
                </a:solidFill>
              </a:rPr>
              <a:t>                          “   Powered by who you are, how you spend, and where you pay. “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64" name="Google Shape;6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8125" y="711175"/>
            <a:ext cx="3443773" cy="4121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3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"/>
          <p:cNvSpPr txBox="1"/>
          <p:nvPr/>
        </p:nvSpPr>
        <p:spPr>
          <a:xfrm>
            <a:off x="311700" y="863550"/>
            <a:ext cx="8710200" cy="4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b="1" lang="en-GB" sz="1800">
                <a:solidFill>
                  <a:srgbClr val="FF9900"/>
                </a:solidFill>
                <a:latin typeface="Manrope"/>
                <a:ea typeface="Manrope"/>
                <a:cs typeface="Manrope"/>
                <a:sym typeface="Manrope"/>
              </a:rPr>
              <a:t>Car</a:t>
            </a:r>
            <a:r>
              <a:rPr b="1" lang="en-GB" sz="18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dSa</a:t>
            </a:r>
            <a:r>
              <a:rPr b="1" lang="en-GB" sz="1800">
                <a:solidFill>
                  <a:srgbClr val="6AA84F"/>
                </a:solidFill>
                <a:latin typeface="Manrope"/>
                <a:ea typeface="Manrope"/>
                <a:cs typeface="Manrope"/>
                <a:sym typeface="Manrope"/>
              </a:rPr>
              <a:t>athi</a:t>
            </a:r>
            <a:r>
              <a:rPr b="1" lang="en-GB" sz="18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— Turning Cards into Smart Financial Assistants</a:t>
            </a:r>
            <a:endParaRPr b="1" sz="18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What’s Different</a:t>
            </a:r>
            <a:br>
              <a:rPr b="1" lang="en-GB" sz="1200">
                <a:solidFill>
                  <a:schemeClr val="dk1"/>
                </a:solidFill>
              </a:rPr>
            </a:br>
            <a:r>
              <a:rPr lang="en-GB" sz="1300">
                <a:solidFill>
                  <a:schemeClr val="dk1"/>
                </a:solidFill>
              </a:rPr>
              <a:t> </a:t>
            </a:r>
            <a:r>
              <a:rPr lang="en-GB" sz="1200">
                <a:solidFill>
                  <a:schemeClr val="dk1"/>
                </a:solidFill>
              </a:rPr>
              <a:t>Existing solutions passively list offers.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</a:rPr>
              <a:t>CardSaathi actively recommends the right card at the moment of payment.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How It Solves It</a:t>
            </a:r>
            <a:endParaRPr b="1" sz="13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Detects </a:t>
            </a:r>
            <a:r>
              <a:rPr i="1" lang="en-GB" sz="1200">
                <a:solidFill>
                  <a:schemeClr val="dk1"/>
                </a:solidFill>
              </a:rPr>
              <a:t>who you are</a:t>
            </a:r>
            <a:r>
              <a:rPr lang="en-GB" sz="1200">
                <a:solidFill>
                  <a:schemeClr val="dk1"/>
                </a:solidFill>
              </a:rPr>
              <a:t> (student, traveler, professional)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Learns </a:t>
            </a:r>
            <a:r>
              <a:rPr i="1" lang="en-GB" sz="1200">
                <a:solidFill>
                  <a:schemeClr val="dk1"/>
                </a:solidFill>
              </a:rPr>
              <a:t>how you spend</a:t>
            </a:r>
            <a:r>
              <a:rPr lang="en-GB" sz="1200">
                <a:solidFill>
                  <a:schemeClr val="dk1"/>
                </a:solidFill>
              </a:rPr>
              <a:t> from past transactions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Pops up </a:t>
            </a:r>
            <a:r>
              <a:rPr i="1" lang="en-GB" sz="1200">
                <a:solidFill>
                  <a:schemeClr val="dk1"/>
                </a:solidFill>
              </a:rPr>
              <a:t>when it matters most</a:t>
            </a:r>
            <a:br>
              <a:rPr i="1" lang="en-GB" sz="1200">
                <a:solidFill>
                  <a:schemeClr val="dk1"/>
                </a:solidFill>
              </a:rPr>
            </a:br>
            <a:r>
              <a:rPr lang="en-GB" sz="1200">
                <a:solidFill>
                  <a:schemeClr val="dk1"/>
                </a:solidFill>
              </a:rPr>
              <a:t> “Use this card now — get more value.”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USP &amp; Impact</a:t>
            </a:r>
            <a:endParaRPr b="1" sz="13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More value from existing cards.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Less confusion.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Smarter financial decisions for everyday Indians.</a:t>
            </a:r>
            <a:endParaRPr b="1" sz="12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                                                              </a:t>
            </a:r>
            <a:r>
              <a:rPr lang="en-GB" sz="16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             </a:t>
            </a:r>
            <a:r>
              <a:rPr b="1" lang="en-GB" sz="1100">
                <a:solidFill>
                  <a:schemeClr val="dk1"/>
                </a:solidFill>
              </a:rPr>
              <a:t>“</a:t>
            </a:r>
            <a:r>
              <a:rPr i="1" lang="en-GB" sz="1100">
                <a:solidFill>
                  <a:schemeClr val="dk1"/>
                </a:solidFill>
              </a:rPr>
              <a:t>Turn every swipe into savings.”</a:t>
            </a:r>
            <a:endParaRPr b="0" i="0" sz="1600" u="none" cap="none" strike="noStrike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4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4"/>
          <p:cNvSpPr txBox="1"/>
          <p:nvPr/>
        </p:nvSpPr>
        <p:spPr>
          <a:xfrm>
            <a:off x="0" y="461000"/>
            <a:ext cx="5080500" cy="4682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20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Core Capabilities of </a:t>
            </a:r>
            <a:r>
              <a:rPr b="1" lang="en-GB" sz="20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b="1" lang="en-GB" sz="2000">
                <a:solidFill>
                  <a:srgbClr val="FF9900"/>
                </a:solidFill>
                <a:latin typeface="Manrope"/>
                <a:ea typeface="Manrope"/>
                <a:cs typeface="Manrope"/>
                <a:sym typeface="Manrope"/>
              </a:rPr>
              <a:t>Car</a:t>
            </a:r>
            <a:r>
              <a:rPr b="1" lang="en-GB" sz="20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dSa</a:t>
            </a:r>
            <a:r>
              <a:rPr b="1" lang="en-GB" sz="2000">
                <a:solidFill>
                  <a:srgbClr val="6AA84F"/>
                </a:solidFill>
                <a:latin typeface="Manrope"/>
                <a:ea typeface="Manrope"/>
                <a:cs typeface="Manrope"/>
                <a:sym typeface="Manrope"/>
              </a:rPr>
              <a:t>athi</a:t>
            </a:r>
            <a:endParaRPr b="1" sz="23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2000" u="sng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b="1" i="1" lang="en-GB" sz="20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  </a:t>
            </a:r>
            <a:r>
              <a:rPr b="1" i="1" lang="en-GB" sz="1200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Turning everyday card usage into smart financial decisions.</a:t>
            </a:r>
            <a:endParaRPr b="1" i="1" sz="120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</a:pPr>
            <a:r>
              <a:rPr b="1" lang="en-GB" sz="1200">
                <a:solidFill>
                  <a:schemeClr val="dk1"/>
                </a:solidFill>
              </a:rPr>
              <a:t>Real-Time Benefit Activation</a:t>
            </a:r>
            <a:endParaRPr b="1"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 AI detects the checkout page and </a:t>
            </a:r>
            <a:r>
              <a:rPr b="1" lang="en-GB" sz="1200">
                <a:solidFill>
                  <a:schemeClr val="dk1"/>
                </a:solidFill>
              </a:rPr>
              <a:t>intelligently recommends the card that unlocks the highest live benefit</a:t>
            </a:r>
            <a:r>
              <a:rPr lang="en-GB" sz="1200">
                <a:solidFill>
                  <a:schemeClr val="dk1"/>
                </a:solidFill>
              </a:rPr>
              <a:t> (cashback, rewards, lounge, student offers).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GB" sz="1200">
                <a:solidFill>
                  <a:schemeClr val="dk1"/>
                </a:solidFill>
              </a:rPr>
              <a:t>India-First Smart Profiling</a:t>
            </a:r>
            <a:endParaRPr b="1"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 Smart profiling for </a:t>
            </a:r>
            <a:r>
              <a:rPr b="1" lang="en-GB" sz="1200">
                <a:solidFill>
                  <a:schemeClr val="dk1"/>
                </a:solidFill>
              </a:rPr>
              <a:t>students, travellers, shoppers, and professionals</a:t>
            </a:r>
            <a:r>
              <a:rPr lang="en-GB" sz="1200">
                <a:solidFill>
                  <a:schemeClr val="dk1"/>
                </a:solidFill>
              </a:rPr>
              <a:t> to suggest suitable cards and offers.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GB" sz="1200">
                <a:solidFill>
                  <a:schemeClr val="dk1"/>
                </a:solidFill>
              </a:rPr>
              <a:t>Hidden Benefits Discovery</a:t>
            </a:r>
            <a:endParaRPr b="1"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 Shows cashback, rewards, OTT, education &amp; travel benefits users usually miss.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GB" sz="1200">
                <a:solidFill>
                  <a:schemeClr val="dk1"/>
                </a:solidFill>
              </a:rPr>
              <a:t>Usage-Based Card Upgr</a:t>
            </a:r>
            <a:r>
              <a:rPr b="1" lang="en-GB" sz="1200">
                <a:solidFill>
                  <a:schemeClr val="dk1"/>
                </a:solidFill>
              </a:rPr>
              <a:t>ade Advisor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            AI evaluates long-term spending patterns and </a:t>
            </a:r>
            <a:r>
              <a:rPr b="1" lang="en-GB" sz="1200">
                <a:solidFill>
                  <a:schemeClr val="dk1"/>
                </a:solidFill>
              </a:rPr>
              <a:t>recommends </a:t>
            </a:r>
            <a:endParaRPr b="1" sz="12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</a:rPr>
              <a:t>better cards or upgrades</a:t>
            </a:r>
            <a:r>
              <a:rPr lang="en-GB" sz="1200">
                <a:solidFill>
                  <a:schemeClr val="dk1"/>
                </a:solidFill>
              </a:rPr>
              <a:t> at the right time.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GB" sz="1200">
                <a:solidFill>
                  <a:schemeClr val="dk1"/>
                </a:solidFill>
              </a:rPr>
              <a:t>Multilingual AI Chatbot </a:t>
            </a:r>
            <a:endParaRPr b="1"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 An AI assistant that answers card, offer, and usage queries in </a:t>
            </a:r>
            <a:r>
              <a:rPr b="1" lang="en-GB" sz="1200">
                <a:solidFill>
                  <a:schemeClr val="dk1"/>
                </a:solidFill>
              </a:rPr>
              <a:t>simple, non-technical language</a:t>
            </a:r>
            <a:r>
              <a:rPr lang="en-GB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GB" sz="1200">
                <a:solidFill>
                  <a:schemeClr val="dk1"/>
                </a:solidFill>
              </a:rPr>
              <a:t>Transaction Insights</a:t>
            </a:r>
            <a:endParaRPr b="1"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 Displays past spends and highlights missed benefits to improve future usage.  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GB" sz="1200">
                <a:solidFill>
                  <a:schemeClr val="dk1"/>
                </a:solidFill>
              </a:rPr>
              <a:t>India-First Card Support</a:t>
            </a:r>
            <a:endParaRPr b="1"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  Optimized for </a:t>
            </a:r>
            <a:r>
              <a:rPr b="1" lang="en-GB" sz="1200">
                <a:solidFill>
                  <a:schemeClr val="dk1"/>
                </a:solidFill>
              </a:rPr>
              <a:t>RuPay, Indian banks</a:t>
            </a:r>
            <a:r>
              <a:rPr lang="en-GB" sz="1200">
                <a:solidFill>
                  <a:schemeClr val="dk1"/>
                </a:solidFill>
              </a:rPr>
              <a:t>, followed by Visa &amp; Mastercard.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77" name="Google Shape;77;p4" title="ChatGPT Image Jan 25, 2026, 06_40_35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7325" y="460800"/>
            <a:ext cx="4226676" cy="4682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5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5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84" name="Google Shape;84;p5" title="ChatGPT Image Jan 25, 2026, 07_43_35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54225"/>
            <a:ext cx="9144000" cy="450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6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6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Wireframes/Mock diagrams of the proposed solution (optional)</a:t>
            </a:r>
            <a:endParaRPr b="1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91" name="Google Shape;91;p6" title="ChatGPT Image Jan 25, 2026, 08_16_57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76550"/>
            <a:ext cx="9144000" cy="4666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7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7"/>
          <p:cNvSpPr txBox="1"/>
          <p:nvPr/>
        </p:nvSpPr>
        <p:spPr>
          <a:xfrm>
            <a:off x="1964600" y="4571525"/>
            <a:ext cx="5649600" cy="37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Architecture diagram of the proposed solutio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n</a:t>
            </a:r>
            <a:endParaRPr b="0" i="0" sz="1400" u="none" cap="none" strike="noStrike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98" name="Google Shape;98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1125" y="432775"/>
            <a:ext cx="7644576" cy="413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8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8"/>
          <p:cNvSpPr txBox="1"/>
          <p:nvPr/>
        </p:nvSpPr>
        <p:spPr>
          <a:xfrm>
            <a:off x="311700" y="863550"/>
            <a:ext cx="4159800" cy="4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55000"/>
              <a:buFont typeface="Arial"/>
              <a:buNone/>
            </a:pPr>
            <a:r>
              <a:rPr b="1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Technologies to be used in the solution: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Smart Front End</a:t>
            </a:r>
            <a:endParaRPr b="1" sz="1300">
              <a:solidFill>
                <a:schemeClr val="dk1"/>
              </a:solidFill>
            </a:endParaRPr>
          </a:p>
          <a:p>
            <a:pPr indent="-28797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1100">
                <a:solidFill>
                  <a:schemeClr val="dk1"/>
                </a:solidFill>
              </a:rPr>
              <a:t>Mobile App / Browser Extension</a:t>
            </a:r>
            <a:r>
              <a:rPr lang="en-GB" sz="1100">
                <a:solidFill>
                  <a:schemeClr val="dk1"/>
                </a:solidFill>
              </a:rPr>
              <a:t> – Real-time user interaction &amp; checkout detection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797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1100">
                <a:solidFill>
                  <a:schemeClr val="dk1"/>
                </a:solidFill>
              </a:rPr>
              <a:t>React / Flutter</a:t>
            </a:r>
            <a:r>
              <a:rPr lang="en-GB" sz="1100">
                <a:solidFill>
                  <a:schemeClr val="dk1"/>
                </a:solidFill>
              </a:rPr>
              <a:t> – Fast, clean, responsive UI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797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1100">
                <a:solidFill>
                  <a:schemeClr val="dk1"/>
                </a:solidFill>
              </a:rPr>
              <a:t>Secure Authentication</a:t>
            </a:r>
            <a:r>
              <a:rPr lang="en-GB" sz="1100">
                <a:solidFill>
                  <a:schemeClr val="dk1"/>
                </a:solidFill>
              </a:rPr>
              <a:t> – Username &amp; password login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797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1100">
                <a:solidFill>
                  <a:schemeClr val="dk1"/>
                </a:solidFill>
              </a:rPr>
              <a:t>Multilingual Interface</a:t>
            </a:r>
            <a:r>
              <a:rPr lang="en-GB" sz="1100">
                <a:solidFill>
                  <a:schemeClr val="dk1"/>
                </a:solidFill>
              </a:rPr>
              <a:t> – Built for Bharat, not just English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AI-Powered Back End</a:t>
            </a:r>
            <a:endParaRPr b="1" sz="1300">
              <a:solidFill>
                <a:schemeClr val="dk1"/>
              </a:solidFill>
            </a:endParaRPr>
          </a:p>
          <a:p>
            <a:pPr indent="-28797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1100">
                <a:solidFill>
                  <a:schemeClr val="dk1"/>
                </a:solidFill>
              </a:rPr>
              <a:t>Python</a:t>
            </a:r>
            <a:r>
              <a:rPr lang="en-GB" sz="1100">
                <a:solidFill>
                  <a:schemeClr val="dk1"/>
                </a:solidFill>
              </a:rPr>
              <a:t> – Core backend &amp; AI/ML engine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797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1100">
                <a:solidFill>
                  <a:schemeClr val="dk1"/>
                </a:solidFill>
              </a:rPr>
              <a:t>Secure REST APIs</a:t>
            </a:r>
            <a:r>
              <a:rPr lang="en-GB" sz="1100">
                <a:solidFill>
                  <a:schemeClr val="dk1"/>
                </a:solidFill>
              </a:rPr>
              <a:t> – Smooth front-end ↔ back-end communication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797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1100">
                <a:solidFill>
                  <a:schemeClr val="dk1"/>
                </a:solidFill>
              </a:rPr>
              <a:t>AI Recommendation Engine</a:t>
            </a:r>
            <a:r>
              <a:rPr lang="en-GB" sz="1100">
                <a:solidFill>
                  <a:schemeClr val="dk1"/>
                </a:solidFill>
              </a:rPr>
              <a:t> – Instant best-card decisions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797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1100">
                <a:solidFill>
                  <a:schemeClr val="dk1"/>
                </a:solidFill>
              </a:rPr>
              <a:t>Context-Aware AI</a:t>
            </a:r>
            <a:r>
              <a:rPr lang="en-GB" sz="1100">
                <a:solidFill>
                  <a:schemeClr val="dk1"/>
                </a:solidFill>
              </a:rPr>
              <a:t> – Understands merchant, category &amp; timing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ct val="55000"/>
              <a:buFont typeface="Arial"/>
              <a:buNone/>
            </a:pPr>
            <a:r>
              <a:t/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05" name="Google Shape;105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7975" y="504575"/>
            <a:ext cx="4716050" cy="463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8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-1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g3bd5d6b0780_1_14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3bd5d6b0780_1_14"/>
          <p:cNvSpPr txBox="1"/>
          <p:nvPr/>
        </p:nvSpPr>
        <p:spPr>
          <a:xfrm>
            <a:off x="0" y="558925"/>
            <a:ext cx="4471500" cy="45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35836"/>
              <a:buFont typeface="Arial"/>
              <a:buNone/>
            </a:pPr>
            <a:r>
              <a:rPr b="1" i="0" lang="en-GB" sz="2609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Technologies to be used in the solution:</a:t>
            </a:r>
            <a:endParaRPr b="1" sz="2609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61635"/>
              <a:buFont typeface="Arial"/>
              <a:buNone/>
            </a:pPr>
            <a:r>
              <a:rPr b="1" lang="en-GB" sz="1784">
                <a:solidFill>
                  <a:schemeClr val="dk1"/>
                </a:solidFill>
              </a:rPr>
              <a:t>Machine Learning (The Real Power!!)</a:t>
            </a:r>
            <a:endParaRPr b="1" sz="1784">
              <a:solidFill>
                <a:schemeClr val="dk1"/>
              </a:solidFill>
            </a:endParaRPr>
          </a:p>
          <a:p>
            <a:pPr indent="-291492" lvl="0" marL="457200" rtl="0" algn="l">
              <a:lnSpc>
                <a:spcPct val="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1584">
                <a:solidFill>
                  <a:schemeClr val="dk1"/>
                </a:solidFill>
              </a:rPr>
              <a:t>Supervised ML</a:t>
            </a:r>
            <a:r>
              <a:rPr lang="en-GB" sz="1584">
                <a:solidFill>
                  <a:schemeClr val="dk1"/>
                </a:solidFill>
              </a:rPr>
              <a:t> – Predicts the best card using past transactions</a:t>
            </a:r>
            <a:br>
              <a:rPr lang="en-GB" sz="1584">
                <a:solidFill>
                  <a:schemeClr val="dk1"/>
                </a:solidFill>
              </a:rPr>
            </a:br>
            <a:endParaRPr sz="1584">
              <a:solidFill>
                <a:schemeClr val="dk1"/>
              </a:solidFill>
            </a:endParaRPr>
          </a:p>
          <a:p>
            <a:pPr indent="-291492" lvl="0" marL="457200" rtl="0" algn="l">
              <a:lnSpc>
                <a:spcPct val="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1584">
                <a:solidFill>
                  <a:schemeClr val="dk1"/>
                </a:solidFill>
              </a:rPr>
              <a:t>Unsupervised ML</a:t>
            </a:r>
            <a:r>
              <a:rPr lang="en-GB" sz="1584">
                <a:solidFill>
                  <a:schemeClr val="dk1"/>
                </a:solidFill>
              </a:rPr>
              <a:t> – Smart user segmentation (student, traveller)</a:t>
            </a:r>
            <a:br>
              <a:rPr lang="en-GB" sz="1584">
                <a:solidFill>
                  <a:schemeClr val="dk1"/>
                </a:solidFill>
              </a:rPr>
            </a:br>
            <a:endParaRPr sz="1584">
              <a:solidFill>
                <a:schemeClr val="dk1"/>
              </a:solidFill>
            </a:endParaRPr>
          </a:p>
          <a:p>
            <a:pPr indent="-291492" lvl="0" marL="457200" rtl="0" algn="l">
              <a:lnSpc>
                <a:spcPct val="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1584">
                <a:solidFill>
                  <a:schemeClr val="dk1"/>
                </a:solidFill>
              </a:rPr>
              <a:t>Reinforcement Learning</a:t>
            </a:r>
            <a:r>
              <a:rPr lang="en-GB" sz="1584">
                <a:solidFill>
                  <a:schemeClr val="dk1"/>
                </a:solidFill>
              </a:rPr>
              <a:t> – Learns from every user action</a:t>
            </a:r>
            <a:br>
              <a:rPr lang="en-GB" sz="1584">
                <a:solidFill>
                  <a:schemeClr val="dk1"/>
                </a:solidFill>
              </a:rPr>
            </a:br>
            <a:endParaRPr sz="1584">
              <a:solidFill>
                <a:schemeClr val="dk1"/>
              </a:solidFill>
            </a:endParaRPr>
          </a:p>
          <a:p>
            <a:pPr indent="-291492" lvl="0" marL="457200" rtl="0" algn="l">
              <a:lnSpc>
                <a:spcPct val="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1584">
                <a:solidFill>
                  <a:schemeClr val="dk1"/>
                </a:solidFill>
              </a:rPr>
              <a:t>AI Ranking Algorithms</a:t>
            </a:r>
            <a:r>
              <a:rPr lang="en-GB" sz="1584">
                <a:solidFill>
                  <a:schemeClr val="dk1"/>
                </a:solidFill>
              </a:rPr>
              <a:t> – Maximizes benefits per swipe</a:t>
            </a:r>
            <a:endParaRPr sz="1584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784">
                <a:solidFill>
                  <a:schemeClr val="dk1"/>
                </a:solidFill>
              </a:rPr>
              <a:t>ML Datasets</a:t>
            </a:r>
            <a:endParaRPr b="1" sz="1784">
              <a:solidFill>
                <a:schemeClr val="dk1"/>
              </a:solidFill>
            </a:endParaRPr>
          </a:p>
          <a:p>
            <a:pPr indent="-291492" lvl="0" marL="457200" rtl="0" algn="l">
              <a:lnSpc>
                <a:spcPct val="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1584">
                <a:solidFill>
                  <a:schemeClr val="dk1"/>
                </a:solidFill>
              </a:rPr>
              <a:t>Masked Transaction Dataset</a:t>
            </a:r>
            <a:r>
              <a:rPr lang="en-GB" sz="1584">
                <a:solidFill>
                  <a:schemeClr val="dk1"/>
                </a:solidFill>
              </a:rPr>
              <a:t> (privacy-safe)</a:t>
            </a:r>
            <a:br>
              <a:rPr lang="en-GB" sz="1584">
                <a:solidFill>
                  <a:schemeClr val="dk1"/>
                </a:solidFill>
              </a:rPr>
            </a:br>
            <a:endParaRPr sz="1584">
              <a:solidFill>
                <a:schemeClr val="dk1"/>
              </a:solidFill>
            </a:endParaRPr>
          </a:p>
          <a:p>
            <a:pPr indent="-291492" lvl="0" marL="457200" rtl="0" algn="l">
              <a:lnSpc>
                <a:spcPct val="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1584">
                <a:solidFill>
                  <a:schemeClr val="dk1"/>
                </a:solidFill>
              </a:rPr>
              <a:t>Live Card Benefits &amp; Offers Dataset</a:t>
            </a:r>
            <a:br>
              <a:rPr b="1" lang="en-GB" sz="1584">
                <a:solidFill>
                  <a:schemeClr val="dk1"/>
                </a:solidFill>
              </a:rPr>
            </a:br>
            <a:endParaRPr b="1" sz="1584">
              <a:solidFill>
                <a:schemeClr val="dk1"/>
              </a:solidFill>
            </a:endParaRPr>
          </a:p>
          <a:p>
            <a:pPr indent="-291492" lvl="0" marL="457200" rtl="0" algn="l">
              <a:lnSpc>
                <a:spcPct val="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1584">
                <a:solidFill>
                  <a:schemeClr val="dk1"/>
                </a:solidFill>
              </a:rPr>
              <a:t>Merchant &amp; Spending Category Dataset</a:t>
            </a:r>
            <a:br>
              <a:rPr b="1" lang="en-GB" sz="1584">
                <a:solidFill>
                  <a:schemeClr val="dk1"/>
                </a:solidFill>
              </a:rPr>
            </a:br>
            <a:endParaRPr b="1" sz="1584">
              <a:solidFill>
                <a:schemeClr val="dk1"/>
              </a:solidFill>
            </a:endParaRPr>
          </a:p>
          <a:p>
            <a:pPr indent="-291492" lvl="0" marL="457200" rtl="0" algn="l">
              <a:lnSpc>
                <a:spcPct val="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1584">
                <a:solidFill>
                  <a:schemeClr val="dk1"/>
                </a:solidFill>
              </a:rPr>
              <a:t>User Interaction Dataset</a:t>
            </a:r>
            <a:r>
              <a:rPr lang="en-GB" sz="1584">
                <a:solidFill>
                  <a:schemeClr val="dk1"/>
                </a:solidFill>
              </a:rPr>
              <a:t> (clicks, feedback, choices)</a:t>
            </a:r>
            <a:br>
              <a:rPr lang="en-GB" sz="1584">
                <a:solidFill>
                  <a:schemeClr val="dk1"/>
                </a:solidFill>
              </a:rPr>
            </a:br>
            <a:endParaRPr sz="1584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784">
                <a:solidFill>
                  <a:schemeClr val="dk1"/>
                </a:solidFill>
              </a:rPr>
              <a:t>Data &amp; Intelligence Storage</a:t>
            </a:r>
            <a:endParaRPr b="1" sz="1784">
              <a:solidFill>
                <a:schemeClr val="dk1"/>
              </a:solidFill>
            </a:endParaRPr>
          </a:p>
          <a:p>
            <a:pPr indent="-291492" lvl="0" marL="457200" rtl="0" algn="l">
              <a:lnSpc>
                <a:spcPct val="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1584">
                <a:solidFill>
                  <a:schemeClr val="dk1"/>
                </a:solidFill>
              </a:rPr>
              <a:t>Structured Databases</a:t>
            </a:r>
            <a:r>
              <a:rPr lang="en-GB" sz="1584">
                <a:solidFill>
                  <a:schemeClr val="dk1"/>
                </a:solidFill>
              </a:rPr>
              <a:t> – User profiles &amp; card metadata</a:t>
            </a:r>
            <a:br>
              <a:rPr lang="en-GB" sz="1584">
                <a:solidFill>
                  <a:schemeClr val="dk1"/>
                </a:solidFill>
              </a:rPr>
            </a:br>
            <a:endParaRPr sz="1584">
              <a:solidFill>
                <a:schemeClr val="dk1"/>
              </a:solidFill>
            </a:endParaRPr>
          </a:p>
          <a:p>
            <a:pPr indent="-291492" lvl="0" marL="457200" rtl="0" algn="l">
              <a:lnSpc>
                <a:spcPct val="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1584">
                <a:solidFill>
                  <a:schemeClr val="dk1"/>
                </a:solidFill>
              </a:rPr>
              <a:t>Analytics Store</a:t>
            </a:r>
            <a:r>
              <a:rPr lang="en-GB" sz="1584">
                <a:solidFill>
                  <a:schemeClr val="dk1"/>
                </a:solidFill>
              </a:rPr>
              <a:t> – Missed benefits &amp; spending insights</a:t>
            </a:r>
            <a:br>
              <a:rPr lang="en-GB" sz="1584">
                <a:solidFill>
                  <a:schemeClr val="dk1"/>
                </a:solidFill>
              </a:rPr>
            </a:br>
            <a:endParaRPr sz="1584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1200"/>
              </a:spcAft>
              <a:buClr>
                <a:srgbClr val="000000"/>
              </a:buClr>
              <a:buSzPct val="71923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  <p:pic>
        <p:nvPicPr>
          <p:cNvPr id="113" name="Google Shape;113;g3bd5d6b0780_1_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7975" y="504575"/>
            <a:ext cx="4716050" cy="463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3bd5d6b0780_1_23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3bd5d6b0780_1_23"/>
          <p:cNvSpPr txBox="1"/>
          <p:nvPr/>
        </p:nvSpPr>
        <p:spPr>
          <a:xfrm>
            <a:off x="0" y="504725"/>
            <a:ext cx="4471500" cy="46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i="0" lang="en-GB" sz="15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Technologies to be used in the solution:</a:t>
            </a:r>
            <a:endParaRPr b="1" sz="15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Security &amp; Privacy</a:t>
            </a:r>
            <a:r>
              <a:rPr b="1" lang="en-GB" sz="1300">
                <a:solidFill>
                  <a:schemeClr val="dk1"/>
                </a:solidFill>
              </a:rPr>
              <a:t> (Non-Negotiable!!)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Card Data Masking</a:t>
            </a:r>
            <a:r>
              <a:rPr lang="en-GB" sz="1100">
                <a:solidFill>
                  <a:schemeClr val="dk1"/>
                </a:solidFill>
              </a:rPr>
              <a:t> – Only last 4 digits visible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End-to-End Encryption</a:t>
            </a:r>
            <a:r>
              <a:rPr lang="en-GB" sz="1100">
                <a:solidFill>
                  <a:schemeClr val="dk1"/>
                </a:solidFill>
              </a:rPr>
              <a:t> – Secure data flow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Read-Only Architecture</a:t>
            </a:r>
            <a:r>
              <a:rPr lang="en-GB" sz="1100">
                <a:solidFill>
                  <a:schemeClr val="dk1"/>
                </a:solidFill>
              </a:rPr>
              <a:t> – Zero payment access, zero risk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Cloud &amp; Scalability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AWS Cloud</a:t>
            </a:r>
            <a:r>
              <a:rPr lang="en-GB" sz="1100">
                <a:solidFill>
                  <a:schemeClr val="dk1"/>
                </a:solidFill>
              </a:rPr>
              <a:t> – Highly scalable &amp; reliable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Serverless AI Functions</a:t>
            </a:r>
            <a:r>
              <a:rPr lang="en-GB" sz="1100">
                <a:solidFill>
                  <a:schemeClr val="dk1"/>
                </a:solidFill>
              </a:rPr>
              <a:t> – Real-time recommendations at scale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Cloud Databases</a:t>
            </a:r>
            <a:r>
              <a:rPr lang="en-GB" sz="1100">
                <a:solidFill>
                  <a:schemeClr val="dk1"/>
                </a:solidFill>
              </a:rPr>
              <a:t> – Fast, low-latency access</a:t>
            </a:r>
            <a:br>
              <a:rPr lang="en-GB" sz="1100">
                <a:solidFill>
                  <a:schemeClr val="dk1"/>
                </a:solidFill>
              </a:rPr>
            </a:br>
            <a:endParaRPr i="1" sz="775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-GB" sz="975">
                <a:solidFill>
                  <a:schemeClr val="dk2"/>
                </a:solidFill>
              </a:rPr>
              <a:t>“Powered by AI. Trained on real data. Built for Bharat.”</a:t>
            </a:r>
            <a:endParaRPr b="1" i="1" sz="975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t/>
            </a:r>
            <a:endParaRPr b="1" i="1" sz="975">
              <a:solidFill>
                <a:schemeClr val="dk2"/>
              </a:solidFill>
            </a:endParaRPr>
          </a:p>
        </p:txBody>
      </p:sp>
      <p:pic>
        <p:nvPicPr>
          <p:cNvPr id="120" name="Google Shape;120;g3bd5d6b0780_1_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7975" y="504575"/>
            <a:ext cx="4716050" cy="463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g3bd60116452_0_2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3bd60116452_0_2"/>
          <p:cNvSpPr txBox="1"/>
          <p:nvPr/>
        </p:nvSpPr>
        <p:spPr>
          <a:xfrm>
            <a:off x="311700" y="580825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Few real life examples</a:t>
            </a:r>
            <a:endParaRPr b="0" i="0" sz="1400" u="none" cap="none" strike="noStrike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27" name="Google Shape;127;g3bd60116452_0_2" title="ChatGPT Image Feb 9, 2026, 10_02_23 AM.png"/>
          <p:cNvPicPr preferRelativeResize="0"/>
          <p:nvPr/>
        </p:nvPicPr>
        <p:blipFill rotWithShape="1">
          <a:blip r:embed="rId4">
            <a:alphaModFix/>
          </a:blip>
          <a:srcRect b="0" l="0" r="0" t="9836"/>
          <a:stretch/>
        </p:blipFill>
        <p:spPr>
          <a:xfrm>
            <a:off x="237550" y="999125"/>
            <a:ext cx="8644800" cy="399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0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0"/>
          <p:cNvPicPr preferRelativeResize="0"/>
          <p:nvPr/>
        </p:nvPicPr>
        <p:blipFill rotWithShape="1">
          <a:blip r:embed="rId4">
            <a:alphaModFix/>
          </a:blip>
          <a:srcRect b="0" l="0" r="0" t="10658"/>
          <a:stretch/>
        </p:blipFill>
        <p:spPr>
          <a:xfrm>
            <a:off x="524125" y="484675"/>
            <a:ext cx="7981674" cy="456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9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9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Estimated implementation cost (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Prototype</a:t>
            </a:r>
            <a:r>
              <a:rPr b="1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):</a:t>
            </a:r>
            <a:endParaRPr b="1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t/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40" name="Google Shape;140;p9"/>
          <p:cNvPicPr preferRelativeResize="0"/>
          <p:nvPr/>
        </p:nvPicPr>
        <p:blipFill rotWithShape="1">
          <a:blip r:embed="rId4">
            <a:alphaModFix/>
          </a:blip>
          <a:srcRect b="18850" l="0" r="0" t="13071"/>
          <a:stretch/>
        </p:blipFill>
        <p:spPr>
          <a:xfrm>
            <a:off x="408575" y="1233125"/>
            <a:ext cx="8326875" cy="366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1" title="AI for Bharddat BANNER – 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